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MY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D361D9-1FFD-42CA-BB0D-B818E8AA2E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MY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39526F-5FCE-45A4-A180-6E2F82D7F6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MY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9C4FEA8-3BBC-4AC1-A602-5C4A03CCE4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MY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A9CF79A-5F8F-49C1-AA4D-DAB00DEE25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MY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92EE3FD-E82F-428F-919B-9B4F108AA1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MY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1116C08-4B67-40CB-98B5-C9F2696C17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MY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42ED32B-AB7A-438B-996B-2C8F4E9184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MY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6F3704D-B878-43AB-A74C-8A37EABED4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MY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C4408BA-70D8-4516-B86F-741EA292DF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MY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4A2EF68-4784-4B4F-8FD1-4BF8A3BA14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MY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F96F9A4-0309-48F4-93E2-FA6DB1708C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MY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style</a:t>
            </a:r>
            <a:endParaRPr b="0" lang="en-US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MY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MY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MY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MY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MY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MY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FECC62-62F4-409B-8EDB-E20FA79C1E16}" type="slidenum">
              <a:rPr b="0" lang="en-MY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MY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Outline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Outline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Outline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MY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MY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MY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MY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MY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MY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DBEEBF-78E8-440B-8571-F822EECB5F5E}" type="slidenum">
              <a:rPr b="0" lang="en-MY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MY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724960" y="414720"/>
            <a:ext cx="2628720" cy="57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414720"/>
            <a:ext cx="7733880" cy="57571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7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MY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MY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MY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8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MY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MY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9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MY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0F58A7-727C-478C-8A82-FCC2C115BFD3}" type="slidenum">
              <a:rPr b="0" lang="en-MY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MY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0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MY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MY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MY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1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MY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MY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2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MY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2E3669-15A0-44BD-A276-A63F68D51389}" type="slidenum">
              <a:rPr b="0" lang="en-MY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MY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style</a:t>
            </a:r>
            <a:endParaRPr b="0" lang="en-US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Click to edit Master text styles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13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MY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MY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MY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14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MY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MY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15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MY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1A463A-7506-41A6-ABED-BDF60E87DDD9}" type="slidenum">
              <a:rPr b="0" lang="en-MY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MY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1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16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MY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MY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MY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17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MY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MY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18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MY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D2154F-8138-438A-8451-3DCB5F86D1AF}" type="slidenum">
              <a:rPr b="0" lang="en-MY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MY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6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09728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109728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1792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21792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dt" idx="19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MY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MY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MY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7"/>
          <p:cNvSpPr>
            <a:spLocks noGrp="1"/>
          </p:cNvSpPr>
          <p:nvPr>
            <p:ph type="ftr" idx="20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MY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MY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8"/>
          <p:cNvSpPr>
            <a:spLocks noGrp="1"/>
          </p:cNvSpPr>
          <p:nvPr>
            <p:ph type="sldNum" idx="21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MY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26D974-F522-42C0-8026-BF296B8BAD96}" type="slidenum">
              <a:rPr b="0" lang="en-MY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MY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7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22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MY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MY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MY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23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MY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MY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4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MY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04BEFC-B9D4-4D3D-94E0-E0CD46656BBD}" type="slidenum">
              <a:rPr b="0" lang="en-MY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MY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86" name="Rectangl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ectangl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dt" idx="25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MY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MY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MY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26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MY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MY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27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MY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84E7BC-6F5B-49FA-86C1-7DC072F1F946}" type="slidenum">
              <a:rPr b="0" lang="en-MY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MY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94" name="Rectangle 7"/>
          <p:cNvSpPr/>
          <p:nvPr/>
        </p:nvSpPr>
        <p:spPr>
          <a:xfrm>
            <a:off x="0" y="0"/>
            <a:ext cx="405036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ectangle 8"/>
          <p:cNvSpPr/>
          <p:nvPr/>
        </p:nvSpPr>
        <p:spPr>
          <a:xfrm>
            <a:off x="4039920" y="0"/>
            <a:ext cx="6372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en-US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dt" idx="28"/>
          </p:nvPr>
        </p:nvSpPr>
        <p:spPr>
          <a:xfrm>
            <a:off x="465480" y="6459840"/>
            <a:ext cx="261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MY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MY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MY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ftr" idx="29"/>
          </p:nvPr>
        </p:nvSpPr>
        <p:spPr>
          <a:xfrm>
            <a:off x="4800600" y="645984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MY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MY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sldNum" idx="30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MY" sz="105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02BA5A-B4BE-48AA-AAF6-8ADAE53B7450}" type="slidenum">
              <a:rPr b="0" lang="en-MY" sz="1050" spc="-1" strike="noStrike">
                <a:solidFill>
                  <a:schemeClr val="dk2"/>
                </a:solidFill>
                <a:latin typeface="Calibri"/>
              </a:rPr>
              <a:t>&lt;number&gt;</a:t>
            </a:fld>
            <a:endParaRPr b="0" lang="en-MY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5" name="Rectangle 7"/>
          <p:cNvSpPr/>
          <p:nvPr/>
        </p:nvSpPr>
        <p:spPr>
          <a:xfrm>
            <a:off x="0" y="4952880"/>
            <a:ext cx="12188520" cy="1904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Rectangle 8"/>
          <p:cNvSpPr/>
          <p:nvPr/>
        </p:nvSpPr>
        <p:spPr>
          <a:xfrm>
            <a:off x="0" y="491508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MY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276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491472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457200" rIns="90000" tIns="4572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Calibri"/>
              </a:rPr>
              <a:t>Click icon to add picture</a:t>
            </a:r>
            <a:endParaRPr b="0" lang="en-US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1097280" y="5906880"/>
            <a:ext cx="10112760" cy="5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rmAutofit/>
          </a:bodyPr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en-US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3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MY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MY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MY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ftr" idx="3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MY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MY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MY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sldNum" idx="3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MY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46762B-62CD-4FDD-8F44-39F626B1BA2E}" type="slidenum">
              <a:rPr b="0" lang="en-MY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MY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1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 Black"/>
              </a:rPr>
              <a:t>Pre-JKUT 2026 </a:t>
            </a:r>
            <a:endParaRPr b="0" lang="en-US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1100160" y="445572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3600" spc="199" strike="noStrike" cap="all">
                <a:solidFill>
                  <a:schemeClr val="dk2"/>
                </a:solidFill>
                <a:latin typeface="Calibri Light"/>
              </a:rPr>
              <a:t>JABATAN PULMONOLOGI</a:t>
            </a:r>
            <a:endParaRPr b="0" lang="en-MY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Content Placeholder 4"/>
          <p:cNvGraphicFramePr/>
          <p:nvPr/>
        </p:nvGraphicFramePr>
        <p:xfrm>
          <a:off x="604800" y="128160"/>
          <a:ext cx="11059560" cy="5574600"/>
        </p:xfrm>
        <a:graphic>
          <a:graphicData uri="http://schemas.openxmlformats.org/drawingml/2006/table">
            <a:tbl>
              <a:tblPr/>
              <a:tblGrid>
                <a:gridCol w="655560"/>
                <a:gridCol w="3030480"/>
                <a:gridCol w="1043280"/>
                <a:gridCol w="2643120"/>
                <a:gridCol w="1843200"/>
                <a:gridCol w="1843200"/>
              </a:tblGrid>
              <a:tr h="1531800"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rial"/>
                        </a:rPr>
                        <a:t>BIL</a:t>
                      </a:r>
                      <a:endParaRPr b="0" lang="en-MY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rial"/>
                        </a:rPr>
                        <a:t>NAMA UBAT</a:t>
                      </a:r>
                      <a:endParaRPr b="0" lang="en-MY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rial"/>
                        </a:rPr>
                        <a:t>Kat</a:t>
                      </a:r>
                      <a:endParaRPr b="0" lang="en-MY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rial"/>
                        </a:rPr>
                        <a:t>BIL PESAKIT/ KUANTITI    (Setahun)</a:t>
                      </a:r>
                      <a:endParaRPr b="0" lang="en-MY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rial"/>
                        </a:rPr>
                        <a:t>BIL TERKINI PESAKIT/ KUANTITI</a:t>
                      </a:r>
                      <a:endParaRPr b="0" lang="en-MY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rial"/>
                        </a:rPr>
                        <a:t>CATATAN</a:t>
                      </a:r>
                      <a:endParaRPr b="0" lang="en-MY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53320">
                <a:tc gridSpan="6"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Times New Roman"/>
                        </a:rPr>
                        <a:t>OUTPATIENT</a:t>
                      </a:r>
                      <a:endParaRPr b="0" lang="en-MY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MY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MY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MY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MY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MY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2254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Budesonide 160mcg &amp; Formoterol 4.5mcg Inhalation (Symbicort)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A/KK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Kuota Terbuka (Had kepada 800 pesakit / setahun)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401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621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Tiotropium 2.5mcg Solution for Inhalation (Spiriva)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A/KK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405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344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19 Pesakit PL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102132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Tiotropium 2.5mcg &amp; Olodaterol 2.5mcg for inhalation (Spiolto)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A/KK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Kuota Terbuka (Had kepada 600 pesakit / setahun)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284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8 Pesakit PL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621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Glycopyrronium 50 Mcg Inhalation Powder Hard Capsule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A/KK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70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57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 Pesakit PL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" name="Content Placeholder 3"/>
          <p:cNvGraphicFramePr/>
          <p:nvPr/>
        </p:nvGraphicFramePr>
        <p:xfrm>
          <a:off x="838080" y="307080"/>
          <a:ext cx="10755000" cy="5147280"/>
        </p:xfrm>
        <a:graphic>
          <a:graphicData uri="http://schemas.openxmlformats.org/drawingml/2006/table">
            <a:tbl>
              <a:tblPr/>
              <a:tblGrid>
                <a:gridCol w="738360"/>
                <a:gridCol w="3414600"/>
                <a:gridCol w="1098000"/>
                <a:gridCol w="1918080"/>
                <a:gridCol w="1792440"/>
                <a:gridCol w="1792440"/>
              </a:tblGrid>
              <a:tr h="1140120"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NAMA UBAT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Kat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 PESAKIT/ KUANTITI    (Setahun)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 TERKINI PESAKIT/ KUANTITI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CATATAN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5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Indacaterol Maleate 150mcg Inhalation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A/KK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/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6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Indacaterol + Glycopyrronium Capsule For Inhalation (Ultibro)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A/KK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175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114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026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7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Umeclinidium 62.5 mcg+ Vilanterol  25mcg inh Powder (ANORO)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13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Melebihi kuota (3 pesakit)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8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Indacaterol +Glycopyrronium + Mometasone (150+50+160mcg) Capsule For Inhalation (Enerzair Breezhaler)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70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46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5 Pesakit PL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622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9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Beclomethasone dipropionate 100 mcg and formoterol fumarate dehydrate 6 mcg pressurized inhalation solution (Foster)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A/KK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450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279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8 Pesakit PL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622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10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Beclomet+Formoterol+Glycopyrranium (Trimbow)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-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 Pesakit (hospital)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+ 4 Sampel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Content Placeholder 3"/>
          <p:cNvGraphicFramePr/>
          <p:nvPr/>
        </p:nvGraphicFramePr>
        <p:xfrm>
          <a:off x="838080" y="307080"/>
          <a:ext cx="10755000" cy="5143320"/>
        </p:xfrm>
        <a:graphic>
          <a:graphicData uri="http://schemas.openxmlformats.org/drawingml/2006/table">
            <a:tbl>
              <a:tblPr/>
              <a:tblGrid>
                <a:gridCol w="738360"/>
                <a:gridCol w="3414600"/>
                <a:gridCol w="1098000"/>
                <a:gridCol w="1918080"/>
                <a:gridCol w="1792440"/>
                <a:gridCol w="1792440"/>
              </a:tblGrid>
              <a:tr h="1140120"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NAMA UBAT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Kat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 PESAKIT/ KUANTITI    (Setahun)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 TERKINI PESAKIT/ KUANTITI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CATATAN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11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Pneumococcal Conjugated -13 Vaccine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C+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100 pesakit/ setahun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60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2025 : 47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12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Nintedanib 100mg Tablet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 rowSpan="2"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31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(kuota dikongsi 100mg &amp; 150mg)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17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(gabungan 100mg &amp; 150mg)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 Pesakit PL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026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13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Nintedanib 150mg Tablet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Kuota dikongsi dengan Nintedanib 100mg</a:t>
                      </a:r>
                      <a:endParaRPr b="0" lang="en-MY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Termasuk dalam 17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 pesakit tajaan, 5 pesakit PL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14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Dabigatran 150mg Tablet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8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622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15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Salmeterol 50mcg + Fluticasone 500mcg Inh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70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24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Pergerakan ubat yang lambat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622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16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Cyclosporin 25mg Tablet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Content Placeholder 3"/>
          <p:cNvGraphicFramePr/>
          <p:nvPr/>
        </p:nvGraphicFramePr>
        <p:xfrm>
          <a:off x="838080" y="307080"/>
          <a:ext cx="10755000" cy="6049080"/>
        </p:xfrm>
        <a:graphic>
          <a:graphicData uri="http://schemas.openxmlformats.org/drawingml/2006/table">
            <a:tbl>
              <a:tblPr/>
              <a:tblGrid>
                <a:gridCol w="738360"/>
                <a:gridCol w="3414600"/>
                <a:gridCol w="1098000"/>
                <a:gridCol w="1918080"/>
                <a:gridCol w="1792440"/>
                <a:gridCol w="1792440"/>
              </a:tblGrid>
              <a:tr h="1140120"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NAMA UBAT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Kat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 PESAKIT/ KUANTITI    (Setahun)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 TERKINI PESAKIT/ KUANTITI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CATATAN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17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Mycophenolate mofetil (250mg &amp; 500mg) Tablet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 pesakit setiap kekuatan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18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Bosentan 125mg 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35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35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Kuota penuh</a:t>
                      </a:r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19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Macitentan 10mg Tablet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23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6 pesakit tajaan + 1 pesakit PL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20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Riociguat 1mg / 2mg / 2.5mg Tablet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-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 pesakit (hospital)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+ 1 pesakit tajaan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026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21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Ambrisentan 10 mg Tablet 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-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22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Sirolimus 1 mg Tablet 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-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 pesakit (hospital)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+ 1 pesakit tajaan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/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622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23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Mycophenolate mofetil (250mg &amp; 500mg) Tablet (Mycofit)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-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46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/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Content Placeholder 3"/>
          <p:cNvGraphicFramePr/>
          <p:nvPr/>
        </p:nvGraphicFramePr>
        <p:xfrm>
          <a:off x="838080" y="307080"/>
          <a:ext cx="10755000" cy="5165280"/>
        </p:xfrm>
        <a:graphic>
          <a:graphicData uri="http://schemas.openxmlformats.org/drawingml/2006/table">
            <a:tbl>
              <a:tblPr/>
              <a:tblGrid>
                <a:gridCol w="738360"/>
                <a:gridCol w="3414600"/>
                <a:gridCol w="1098000"/>
                <a:gridCol w="1918080"/>
                <a:gridCol w="1792440"/>
                <a:gridCol w="1792440"/>
              </a:tblGrid>
              <a:tr h="1140120"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NAMA UBAT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Kat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 PESAKIT/ KUANTITI    (Setahun)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 TERKINI PESAKIT/ KUANTITI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CATATAN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24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Mycophenolate mofetil sodium (180mg &amp; 360mg) Tablet (Myfortic)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-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5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25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Sildenafil 100mg Tablet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i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Kuota terbuka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11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026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26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Methotrexate 2.5 mg Tablet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-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27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Voriconazole 200mg tablet 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pesakit PL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622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28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Selexipag 200/400/600/800/1000/1200/1400/1600 mcg Tablet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-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10 pesakit (hospital)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+ 4 pesakit tajaan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/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Content Placeholder 3"/>
          <p:cNvGraphicFramePr/>
          <p:nvPr/>
        </p:nvGraphicFramePr>
        <p:xfrm>
          <a:off x="838080" y="307080"/>
          <a:ext cx="10755000" cy="5928120"/>
        </p:xfrm>
        <a:graphic>
          <a:graphicData uri="http://schemas.openxmlformats.org/drawingml/2006/table">
            <a:tbl>
              <a:tblPr/>
              <a:tblGrid>
                <a:gridCol w="738360"/>
                <a:gridCol w="3414600"/>
                <a:gridCol w="1098000"/>
                <a:gridCol w="1918080"/>
                <a:gridCol w="1792440"/>
                <a:gridCol w="1792440"/>
              </a:tblGrid>
              <a:tr h="1140120"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NAMA UBAT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Kat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 PESAKIT/ KUANTITI    (Setahun)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 TERKINI PESAKIT/ KUANTITI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CATATAN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29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Tadalafil 20mg Tablet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UKK (STOCK)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16,072’s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4,790’s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/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30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Beraprost 20 mcg Tablet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UKK (STOCK)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4,500’s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6,125’s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Penggunaan melebihi kuantiti kelulusan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026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31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Iloprost Nebulising Solution 20mcg/2ml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-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 pesakit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Aft>
                          <a:spcPts val="1199"/>
                        </a:spcAft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/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32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Apixaban 5mg Film-Coated Tablet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12 pesakit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Bertukar KPK (STOK) → PUB-OP</a:t>
                      </a:r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0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33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Bumetanide 1mg Tablet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5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15 pesakit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Ubat baharu dalam senarai kuota;</a:t>
                      </a:r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  <a:p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melebihi kuota</a:t>
                      </a:r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0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34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Ciclesonide 160mcg Inhalation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5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pesakit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Ubat baharu dalam senarai kuota</a:t>
                      </a:r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0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35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Budesonide + Glycopyrronium + Formoterol Inhalation (Breztri Aerosphere)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25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11 pesakit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Ubat baharu; bertukar KPK → PUB-OP</a:t>
                      </a:r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Content Placeholder 3"/>
          <p:cNvGraphicFramePr/>
          <p:nvPr/>
        </p:nvGraphicFramePr>
        <p:xfrm>
          <a:off x="838080" y="307080"/>
          <a:ext cx="10755000" cy="5359680"/>
        </p:xfrm>
        <a:graphic>
          <a:graphicData uri="http://schemas.openxmlformats.org/drawingml/2006/table">
            <a:tbl>
              <a:tblPr/>
              <a:tblGrid>
                <a:gridCol w="738360"/>
                <a:gridCol w="3414600"/>
                <a:gridCol w="1098000"/>
                <a:gridCol w="1918080"/>
                <a:gridCol w="1792440"/>
                <a:gridCol w="1792440"/>
              </a:tblGrid>
              <a:tr h="1140120"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NAMA UBAT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Kat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 PESAKIT/ KUANTITI    (Setahun)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 TERKINI PESAKIT/ KUANTITI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CATATAN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62240">
                <a:tc gridSpan="6"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Times New Roman"/>
                        </a:rPr>
                        <a:t>INPATIENT</a:t>
                      </a:r>
                      <a:endParaRPr b="0" lang="en-MY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MY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MY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MY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MY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MY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622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36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Voriconazole 200mg Inj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622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37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Alteplase 50mg Inj (Actilyse)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Bertukar UKK → PUB-IP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622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38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Dornase alfa 2.5mg/2.5ml Neb Sol (UDV)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-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5 pesakit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r>
                        <a:rPr b="0" lang="en-MY" sz="12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Termasuk permohonan one-off KPK</a:t>
                      </a:r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622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39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Mitomycin 10mg Injection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50 vial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7 vial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622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40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Omalizumab 150 mg Injection*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5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5 pesakit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r>
                        <a:rPr b="0" lang="en-MY" sz="12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Kuota penuh</a:t>
                      </a:r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622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41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Methacholine Test 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6’s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0 pesakit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Tarikh luput import permit 18.06.2026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Tarikh mohon semula KPK 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31.03.2026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622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42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Rifampicin 600mg Powder for injection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70’s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Stock balance (short exp)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49 (31/03/2026)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Tiada dalam senarai kuota PUB terkini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" name="Content Placeholder 3"/>
          <p:cNvGraphicFramePr/>
          <p:nvPr/>
        </p:nvGraphicFramePr>
        <p:xfrm>
          <a:off x="838080" y="307080"/>
          <a:ext cx="10755000" cy="4680720"/>
        </p:xfrm>
        <a:graphic>
          <a:graphicData uri="http://schemas.openxmlformats.org/drawingml/2006/table">
            <a:tbl>
              <a:tblPr/>
              <a:tblGrid>
                <a:gridCol w="738360"/>
                <a:gridCol w="3414600"/>
                <a:gridCol w="1098000"/>
                <a:gridCol w="1918080"/>
                <a:gridCol w="1792440"/>
                <a:gridCol w="1792440"/>
              </a:tblGrid>
              <a:tr h="1140120"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NAMA UBAT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Kat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 PESAKIT/ KUANTITI    (Setahun)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BIL TERKINI PESAKIT/ KUANTITI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6440" rIns="4644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CATATAN</a:t>
                      </a:r>
                      <a:endParaRPr b="0" lang="en-MY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6440" marR="46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43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Isoniazid 500mg/5ml Injection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UKK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70’s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Stock balance (short exp)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20 (31/10/2026)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Tiada dalam senarai kuota PUB terkini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1026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44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Benralizumab 30mg Sol Inj Pre-Fill Syringe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10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Kuota penuh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840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45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Dupilumab 200mg Solution for Injection in PFS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1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Kuota penuh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622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46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2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en-MY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Dupilumab 300mg (DUPIXENT)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A*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9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9 pesakit</a:t>
                      </a:r>
                      <a:endParaRPr b="0" lang="en-MY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r>
                        <a:rPr b="0" lang="en-MY" sz="1100" spc="-1" strike="noStrike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Kuota penuh</a:t>
                      </a:r>
                      <a:endParaRPr b="0" lang="en-MY" sz="1200" spc="-1" strike="noStrike">
                        <a:solidFill>
                          <a:schemeClr val="dk1"/>
                        </a:solidFill>
                        <a:latin typeface="Times New Roman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157</TotalTime>
  <Application>LibreOffice/24.2.1.2$Windows_X86_64 LibreOffice_project/db4def46b0453cc22e2d0305797cf981b68ef5ac</Application>
  <AppVersion>15.0000</AppVersion>
  <Words>851</Words>
  <Paragraphs>319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2024-02-09T02:42:18Z</dcterms:created>
  <dc:creator>FAR Hanisah Binti. Omar</dc:creator>
  <dc:description/>
  <dc:language>en-MY</dc:language>
  <cp:lastModifiedBy/>
  <dcterms:modified xsi:type="dcterms:W3CDTF">2026-03-03T12:02:14Z</dcterms:modified>
  <cp:revision>17</cp:revision>
  <dc:subject/>
  <dc:title>Pre-JKUT 2024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