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2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MY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D361D9-1FFD-42CA-BB0D-B818E8AA2E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939526F-5FCE-45A4-A180-6E2F82D7F6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9C4FEA8-3BBC-4AC1-A602-5C4A03CCE4F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A9CF79A-5F8F-49C1-AA4D-DAB00DEE25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92EE3FD-E82F-428F-919B-9B4F108AA1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1116C08-4B67-40CB-98B5-C9F2696C17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42ED32B-AB7A-438B-996B-2C8F4E9184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B6F3704D-B878-43AB-A74C-8A37EABED4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BC4408BA-70D8-4516-B86F-741EA292DF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24A2EF68-4784-4B4F-8FD1-4BF8A3BA14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F96F9A4-0309-48F4-93E2-FA6DB1708CE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MY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3" name="Rectangle 6"/>
          <p:cNvSpPr/>
          <p:nvPr/>
        </p:nvSpPr>
        <p:spPr>
          <a:xfrm>
            <a:off x="3240" y="6400800"/>
            <a:ext cx="1218852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ectangle 7"/>
          <p:cNvSpPr/>
          <p:nvPr/>
        </p:nvSpPr>
        <p:spPr>
          <a:xfrm>
            <a:off x="0" y="633420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19080" bIns="190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097280" y="758880"/>
            <a:ext cx="10058040" cy="356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8000" spc="-52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Click to edit Master title style</a:t>
            </a:r>
            <a:endParaRPr b="0" lang="en-US" sz="8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2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3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FECC62-62F4-409B-8EDB-E20FA79C1E16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440" y="4343400"/>
            <a:ext cx="987588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the outline text format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Outline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Outline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Outline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5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t" vert="eaVer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4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5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6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DBEEBF-78E8-440B-8571-F822EECB5F5E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3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24" name="Rectangle 6"/>
          <p:cNvSpPr/>
          <p:nvPr/>
        </p:nvSpPr>
        <p:spPr>
          <a:xfrm>
            <a:off x="3240" y="6400800"/>
            <a:ext cx="1218852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Rectangle 7"/>
          <p:cNvSpPr/>
          <p:nvPr/>
        </p:nvSpPr>
        <p:spPr>
          <a:xfrm>
            <a:off x="0" y="633420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19080" bIns="190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724960" y="414720"/>
            <a:ext cx="2628720" cy="575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414720"/>
            <a:ext cx="7733880" cy="5757120"/>
          </a:xfrm>
          <a:prstGeom prst="rect">
            <a:avLst/>
          </a:prstGeom>
          <a:noFill/>
          <a:ln w="0">
            <a:noFill/>
          </a:ln>
        </p:spPr>
        <p:txBody>
          <a:bodyPr lIns="45720" rIns="45720" tIns="0" bIns="0" anchor="t" vert="eaVer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7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8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9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0F58A7-727C-478C-8A82-FCC2C115BFD3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3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0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1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12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2E3669-15A0-44BD-A276-A63F68D51389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3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44" name="Rectangle 6"/>
          <p:cNvSpPr/>
          <p:nvPr/>
        </p:nvSpPr>
        <p:spPr>
          <a:xfrm>
            <a:off x="3240" y="6400800"/>
            <a:ext cx="1218852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Rectangle 7"/>
          <p:cNvSpPr/>
          <p:nvPr/>
        </p:nvSpPr>
        <p:spPr>
          <a:xfrm>
            <a:off x="0" y="633420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19080" bIns="190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097280" y="758880"/>
            <a:ext cx="10058040" cy="356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8000" spc="-52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Calibri Light"/>
              </a:rPr>
              <a:t>Click to edit Master title style</a:t>
            </a:r>
            <a:endParaRPr b="0" lang="en-US" sz="8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1097280" y="4453200"/>
            <a:ext cx="100580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400" spc="199" strike="noStrike" cap="all">
                <a:solidFill>
                  <a:schemeClr val="dk2"/>
                </a:solidFill>
                <a:latin typeface="Calibri Light"/>
              </a:rPr>
              <a:t>Click to edit Master text styles</a:t>
            </a:r>
            <a:endParaRPr b="0" lang="en-US" sz="2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13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14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15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1A463A-7506-41A6-ABED-BDF60E87DDD9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51" name="Straight Connector 8"/>
          <p:cNvCxnSpPr/>
          <p:nvPr/>
        </p:nvCxnSpPr>
        <p:spPr>
          <a:xfrm>
            <a:off x="1207440" y="4343400"/>
            <a:ext cx="987588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4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097280" y="1845720"/>
            <a:ext cx="493740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17920" y="1845720"/>
            <a:ext cx="493740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16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17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18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D2154F-8138-438A-8451-3DCB5F86D1AF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6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1097280" y="1846080"/>
            <a:ext cx="4937400" cy="73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-1" strike="noStrike" cap="all">
                <a:solidFill>
                  <a:schemeClr val="dk2"/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1097280" y="2582280"/>
            <a:ext cx="4937400" cy="33778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6217920" y="1846080"/>
            <a:ext cx="4937400" cy="73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2000" spc="-1" strike="noStrike" cap="all">
                <a:solidFill>
                  <a:schemeClr val="dk2"/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6217920" y="2582280"/>
            <a:ext cx="4937400" cy="337788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dt" idx="19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7"/>
          <p:cNvSpPr>
            <a:spLocks noGrp="1"/>
          </p:cNvSpPr>
          <p:nvPr>
            <p:ph type="ftr" idx="20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8"/>
          <p:cNvSpPr>
            <a:spLocks noGrp="1"/>
          </p:cNvSpPr>
          <p:nvPr>
            <p:ph type="sldNum" idx="21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D26D974-F522-42C0-8026-BF296B8BAD96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4800" spc="-52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 Light"/>
              </a:rPr>
              <a:t>Click to edit Master title style</a:t>
            </a:r>
            <a:endParaRPr b="0" lang="en-US" sz="4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dt" idx="22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ftr" idx="23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4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04BEFC-B9D4-4D3D-94E0-E0CD46656BBD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85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86" name="Rectangle 4"/>
          <p:cNvSpPr/>
          <p:nvPr/>
        </p:nvSpPr>
        <p:spPr>
          <a:xfrm>
            <a:off x="3240" y="6400800"/>
            <a:ext cx="1218852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Rectangle 5"/>
          <p:cNvSpPr/>
          <p:nvPr/>
        </p:nvSpPr>
        <p:spPr>
          <a:xfrm>
            <a:off x="0" y="633420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19080" bIns="190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dt" idx="25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26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27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84E7BC-6F5B-49FA-86C1-7DC072F1F946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93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94" name="Rectangle 7"/>
          <p:cNvSpPr/>
          <p:nvPr/>
        </p:nvSpPr>
        <p:spPr>
          <a:xfrm>
            <a:off x="0" y="0"/>
            <a:ext cx="4050360" cy="6857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Rectangle 8"/>
          <p:cNvSpPr/>
          <p:nvPr/>
        </p:nvSpPr>
        <p:spPr>
          <a:xfrm>
            <a:off x="4039920" y="0"/>
            <a:ext cx="63720" cy="6857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594360"/>
            <a:ext cx="3200040" cy="228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3600" spc="-52" strike="noStrike">
                <a:solidFill>
                  <a:srgbClr val="ffffff"/>
                </a:solidFill>
                <a:latin typeface="Calibri Light"/>
              </a:rPr>
              <a:t>Click to edit Master title style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4800600" y="731520"/>
            <a:ext cx="6491880" cy="5257440"/>
          </a:xfrm>
          <a:prstGeom prst="rect">
            <a:avLst/>
          </a:prstGeom>
          <a:noFill/>
          <a:ln w="0">
            <a:noFill/>
          </a:ln>
        </p:spPr>
        <p:txBody>
          <a:bodyPr lIns="0" rIns="0" tIns="45720" bIns="45720" anchor="t">
            <a:noAutofit/>
          </a:bodyPr>
          <a:p>
            <a:pPr marL="91440" indent="-9144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b="0" lang="en-US" sz="20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1" marL="38412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8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Second level</a:t>
            </a:r>
            <a:endParaRPr b="0" lang="en-US" sz="18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2" marL="56700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Third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3" marL="74988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Fourth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  <a:p>
            <a:pPr lvl="4" marL="932760" indent="-182880" defTabSz="91440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b="0" lang="en-US" sz="1400" spc="-1" strike="noStrike">
                <a:solidFill>
                  <a:schemeClr val="dk1">
                    <a:lumMod val="75000"/>
                    <a:lumOff val="25000"/>
                  </a:schemeClr>
                </a:solidFill>
                <a:latin typeface="Calibri"/>
              </a:rPr>
              <a:t>Fifth level</a:t>
            </a:r>
            <a:endParaRPr b="0" lang="en-US" sz="14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2926080"/>
            <a:ext cx="3200040" cy="337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8"/>
          </p:nvPr>
        </p:nvSpPr>
        <p:spPr>
          <a:xfrm>
            <a:off x="465480" y="6459840"/>
            <a:ext cx="261828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9"/>
          </p:nvPr>
        </p:nvSpPr>
        <p:spPr>
          <a:xfrm>
            <a:off x="4800600" y="6459840"/>
            <a:ext cx="46479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0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chemeClr val="dk2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02BA5A-B4BE-48AA-AAF6-8ADAE53B7450}" type="slidenum">
              <a:rPr b="0" lang="en-MY" sz="1050" spc="-1" strike="noStrike">
                <a:solidFill>
                  <a:schemeClr val="dk2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0880" bIns="208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4" name="Straight Connector 9"/>
          <p:cNvCxnSpPr/>
          <p:nvPr/>
        </p:nvCxnSpPr>
        <p:spPr>
          <a:xfrm>
            <a:off x="1193400" y="1737720"/>
            <a:ext cx="9967320" cy="360"/>
          </a:xfrm>
          <a:prstGeom prst="straightConnector1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sp>
        <p:nvSpPr>
          <p:cNvPr id="105" name="Rectangle 7"/>
          <p:cNvSpPr/>
          <p:nvPr/>
        </p:nvSpPr>
        <p:spPr>
          <a:xfrm>
            <a:off x="0" y="4952880"/>
            <a:ext cx="12188520" cy="19047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ectangle 8"/>
          <p:cNvSpPr/>
          <p:nvPr/>
        </p:nvSpPr>
        <p:spPr>
          <a:xfrm>
            <a:off x="0" y="491508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19080" bIns="19080" anchor="t">
            <a:noAutofit/>
          </a:bodyPr>
          <a:p>
            <a:endParaRPr b="0" lang="en-MY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2760" cy="8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0" lang="en-US" sz="3600" spc="-52" strike="noStrike">
                <a:solidFill>
                  <a:srgbClr val="ffffff"/>
                </a:solidFill>
                <a:latin typeface="Calibri Light"/>
              </a:rPr>
              <a:t>Click to edit Master title style</a:t>
            </a:r>
            <a:endParaRPr b="0" lang="en-US" sz="3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4914720"/>
          </a:xfrm>
          <a:prstGeom prst="rect">
            <a:avLst/>
          </a:prstGeom>
          <a:blipFill rotWithShape="0">
            <a:blip r:embed="rId2"/>
            <a:stretch/>
          </a:blipFill>
          <a:ln w="0">
            <a:noFill/>
          </a:ln>
        </p:spPr>
        <p:txBody>
          <a:bodyPr lIns="457200" rIns="90000" tIns="4572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lt1"/>
                </a:solidFill>
                <a:latin typeface="Calibri"/>
              </a:rPr>
              <a:t>Click icon to add picture</a:t>
            </a:r>
            <a:endParaRPr b="0" lang="en-US" sz="32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1097280" y="5906880"/>
            <a:ext cx="10112760" cy="5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0" bIns="0" anchor="t">
            <a:normAutofit/>
          </a:bodyPr>
          <a:p>
            <a:pPr indent="0" defTabSz="914400">
              <a:lnSpc>
                <a:spcPct val="9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Click to edit Master text styles</a:t>
            </a:r>
            <a:endParaRPr b="0" lang="en-US" sz="1500" spc="-1" strike="noStrike">
              <a:solidFill>
                <a:schemeClr val="dk1">
                  <a:lumMod val="75000"/>
                  <a:lumOff val="25000"/>
                </a:schemeClr>
              </a:solidFill>
              <a:latin typeface="Calibri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31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MY" sz="90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MY" sz="900" spc="-1" strike="noStrike">
                <a:solidFill>
                  <a:srgbClr val="ffffff"/>
                </a:solidFill>
                <a:latin typeface="Calibri"/>
              </a:rPr>
              <a:t>&lt;date/time&gt;</a:t>
            </a:r>
            <a:endParaRPr b="0" lang="en-MY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ftr" idx="32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MY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MY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MY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sldNum" idx="33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MY" sz="1050" spc="-1" strike="noStrike">
                <a:solidFill>
                  <a:srgbClr val="ffffff"/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46762B-62CD-4FDD-8F44-39F626B1BA2E}" type="slidenum">
              <a:rPr b="0" lang="en-MY" sz="1050" spc="-1" strike="noStrike">
                <a:solidFill>
                  <a:srgbClr val="ffffff"/>
                </a:solidFill>
                <a:latin typeface="Calibri"/>
              </a:rPr>
              <a:t>&lt;number&gt;</a:t>
            </a:fld>
            <a:endParaRPr b="0" lang="en-MY" sz="10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097280" y="758880"/>
            <a:ext cx="10058040" cy="356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b="1" lang="en-US" sz="8000" spc="-52" strike="noStrike">
                <a:solidFill>
                  <a:schemeClr val="dk1">
                    <a:lumMod val="85000"/>
                    <a:lumOff val="15000"/>
                  </a:schemeClr>
                </a:solidFill>
                <a:latin typeface="Arial Black"/>
              </a:rPr>
              <a:t>Pre-JKUT 2026 </a:t>
            </a:r>
            <a:endParaRPr b="0" lang="en-US" sz="8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1100160" y="4455720"/>
            <a:ext cx="100580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algn="l" pos="0"/>
              </a:tabLst>
            </a:pPr>
            <a:r>
              <a:rPr b="1" lang="en-US" sz="3600" spc="199" strike="noStrike" cap="all">
                <a:solidFill>
                  <a:schemeClr val="dk2"/>
                </a:solidFill>
                <a:latin typeface="Calibri Light"/>
              </a:rPr>
              <a:t>JABATAN PULMONOLOGI</a:t>
            </a:r>
            <a:endParaRPr b="0" lang="en-MY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" name="Content Placeholder 4"/>
          <p:cNvGraphicFramePr/>
          <p:nvPr/>
        </p:nvGraphicFramePr>
        <p:xfrm>
          <a:off x="604800" y="128160"/>
          <a:ext cx="11059560" cy="5574600"/>
        </p:xfrm>
        <a:graphic>
          <a:graphicData uri="http://schemas.openxmlformats.org/drawingml/2006/table">
            <a:tbl>
              <a:tblPr/>
              <a:tblGrid>
                <a:gridCol w="655560"/>
                <a:gridCol w="3030480"/>
                <a:gridCol w="1043280"/>
                <a:gridCol w="2643120"/>
                <a:gridCol w="1843200"/>
                <a:gridCol w="1843200"/>
              </a:tblGrid>
              <a:tr h="153180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BIL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NAMA UBAT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Kat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BIL PESAKIT/ KUANTITI    (Setahun)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BIL TERKINI PESAKIT/ KUANTITI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lt1"/>
                          </a:solidFill>
                          <a:latin typeface="Arial"/>
                        </a:rPr>
                        <a:t>CATATAN</a:t>
                      </a:r>
                      <a:endParaRPr b="0" lang="en-MY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53320">
                <a:tc gridSpan="6"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/>
                          </a:solidFill>
                          <a:latin typeface="Arial"/>
                          <a:ea typeface="Times New Roman"/>
                        </a:rPr>
                        <a:t>UBAT ORAL / INHALER</a:t>
                      </a:r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12254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Apixaban 5mg Film-coated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20</a:t>
                      </a: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21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Beclomethasone 100mcg + Formoterol 6mcg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(FOSTER)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450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279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102132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Bumetanide 1mg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21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Bosentan 125mg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Kuota penuh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" name="Content Placeholder 3"/>
          <p:cNvGraphicFramePr/>
          <p:nvPr/>
        </p:nvGraphicFramePr>
        <p:xfrm>
          <a:off x="838080" y="307080"/>
          <a:ext cx="10755000" cy="5147280"/>
        </p:xfrm>
        <a:graphic>
          <a:graphicData uri="http://schemas.openxmlformats.org/drawingml/2006/table">
            <a:tbl>
              <a:tblPr/>
              <a:tblGrid>
                <a:gridCol w="738360"/>
                <a:gridCol w="3414600"/>
                <a:gridCol w="1098000"/>
                <a:gridCol w="1918080"/>
                <a:gridCol w="1792440"/>
                <a:gridCol w="1792440"/>
              </a:tblGrid>
              <a:tr h="114012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NAMA UBAT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Kat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PESAKIT/ KUANTITI    (Setahun)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TERKINI PESAKIT/ KUANTITI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CATATAN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Budesonide 160mcg + Formoterol 4.5mcg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(SYMBICORT)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Open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402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Maksimum 800 pesakit setahun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6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Ciclesonide 160mcg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026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Cyclosporin 25mg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8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Dabigatran 150mg Capsule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8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9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Glycopyrronium 50mcg Inhalation Powder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(SEEBRI BREEZHALER)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57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Indacaterol 150mcg + Glycopyrronium + Mometasone 160mcg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(ENERZAIR BREEZHALER)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46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Content Placeholder 3"/>
          <p:cNvGraphicFramePr/>
          <p:nvPr/>
        </p:nvGraphicFramePr>
        <p:xfrm>
          <a:off x="838080" y="307080"/>
          <a:ext cx="10755000" cy="5143320"/>
        </p:xfrm>
        <a:graphic>
          <a:graphicData uri="http://schemas.openxmlformats.org/drawingml/2006/table">
            <a:tbl>
              <a:tblPr/>
              <a:tblGrid>
                <a:gridCol w="738360"/>
                <a:gridCol w="3414600"/>
                <a:gridCol w="1098000"/>
                <a:gridCol w="1918080"/>
                <a:gridCol w="1792440"/>
                <a:gridCol w="1792440"/>
              </a:tblGrid>
              <a:tr h="114012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NAMA UBAT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Kat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PESAKIT/ KUANTITI    (Setahun)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TERKINI PESAKIT/ KUANTITI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CATATAN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Indacaterol 150mcg + Glycopyrronium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(ULTIBRO BREEZHALER)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175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115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Indacaterol 150mcg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(ONBREZ BREEZHALER)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 rowSpan="2"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026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Macitentan 10mg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 vMerge="1"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30</a:t>
                      </a:r>
                      <a:endParaRPr b="0" lang="en-MY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Mycophenolate Mofetil 250mg &amp; 500mg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Nintedanib 100mg Capsule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16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Nintedanib 150mg Capsule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Content Placeholder 3"/>
          <p:cNvGraphicFramePr/>
          <p:nvPr/>
        </p:nvGraphicFramePr>
        <p:xfrm>
          <a:off x="838080" y="307080"/>
          <a:ext cx="10755000" cy="6049080"/>
        </p:xfrm>
        <a:graphic>
          <a:graphicData uri="http://schemas.openxmlformats.org/drawingml/2006/table">
            <a:tbl>
              <a:tblPr/>
              <a:tblGrid>
                <a:gridCol w="738360"/>
                <a:gridCol w="3414600"/>
                <a:gridCol w="1098000"/>
                <a:gridCol w="1918080"/>
                <a:gridCol w="1792440"/>
                <a:gridCol w="1792440"/>
              </a:tblGrid>
              <a:tr h="114012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NAMA UBAT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Kat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PESAKIT/ KUANTITI    (Setahun)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TERKINI PESAKIT/ KUANTITI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CATATAN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17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Pneumococcal Polysaccharide Conjugate Vaccine 13-valent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(PREVENAR 13)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60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100 pesakit setiap tahun</a:t>
                      </a:r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18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Salmeterol 50mcg + Fluticasone 500mcg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(SERETIDE)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C+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19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Tiotropium 2.5mcg + Olodaterol 2.5mcg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(SPIOLTO RESPIMAT)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600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284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Tiotropium 2.5mcg Solution for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(SPIRIVA RESPIMAT)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405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344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026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Umeclidinium 62.5mcg + Vilanterol 25mcg Inhalation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(ANORO)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A/KK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22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Voriconazole 200mg Tablet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Maksimum 4 pesakit pada satu masa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23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Budesonide 160mcg + Glycopyrronium + Formoterol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(BREZTRI AEROSPHERE)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9" name="Content Placeholder 3"/>
          <p:cNvGraphicFramePr/>
          <p:nvPr/>
        </p:nvGraphicFramePr>
        <p:xfrm>
          <a:off x="838080" y="307080"/>
          <a:ext cx="10755000" cy="5165280"/>
        </p:xfrm>
        <a:graphic>
          <a:graphicData uri="http://schemas.openxmlformats.org/drawingml/2006/table">
            <a:tbl>
              <a:tblPr/>
              <a:tblGrid>
                <a:gridCol w="738360"/>
                <a:gridCol w="3414600"/>
                <a:gridCol w="1098000"/>
                <a:gridCol w="1918080"/>
                <a:gridCol w="1792440"/>
                <a:gridCol w="1792440"/>
              </a:tblGrid>
              <a:tr h="114012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NAMA UBAT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Kat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PESAKIT/ KUANTITI    (Setahun)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TERKINI PESAKIT/ KUANTITI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CATATAN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UBAT SUNTIKAN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Mitomycin 10mg Injection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50 vials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2 sesi setiap pesakit</a:t>
                      </a:r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Omalizumab 150 mg (powder and solvent for solution)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i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 pesakit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Kuota penuh</a:t>
                      </a:r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026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3.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Benralizumab 30mg Inj PENFILLED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13 pesakit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10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S/C Dupilumab 300mg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15 pesakit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9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6224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5.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S/C Dupilumab 200mg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 pesakit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Kuota penuh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0" name="Content Placeholder 3"/>
          <p:cNvGraphicFramePr/>
          <p:nvPr/>
        </p:nvGraphicFramePr>
        <p:xfrm>
          <a:off x="838080" y="307080"/>
          <a:ext cx="10755000" cy="4680720"/>
        </p:xfrm>
        <a:graphic>
          <a:graphicData uri="http://schemas.openxmlformats.org/drawingml/2006/table">
            <a:tbl>
              <a:tblPr/>
              <a:tblGrid>
                <a:gridCol w="738360"/>
                <a:gridCol w="3414600"/>
                <a:gridCol w="1098000"/>
                <a:gridCol w="1918080"/>
                <a:gridCol w="1792440"/>
                <a:gridCol w="1792440"/>
              </a:tblGrid>
              <a:tr h="1140120"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NAMA UBAT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Kat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PESAKIT/ KUANTITI    (Setahun)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BIL TERKINI PESAKIT/ KUANTITI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46440" rIns="4644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2000" spc="-1" strike="noStrike">
                          <a:solidFill>
                            <a:schemeClr val="lt1"/>
                          </a:solidFill>
                          <a:latin typeface="Calibri"/>
                        </a:rPr>
                        <a:t>CATATAN</a:t>
                      </a:r>
                      <a:endParaRPr b="0" lang="en-MY" sz="2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46440" marR="46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6.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Dornase Alfa 2500IU/2.5ML Neb Solution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(PULMOZYME)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KPK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Permohonan KPK bila ada keperluan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14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7.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Alteplase 50mg Inj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4 vials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026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8.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Methacholine Test 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6 unit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0</a:t>
                      </a: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Aft>
                          <a:spcPts val="1199"/>
                        </a:spcAft>
                      </a:pP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84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9.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Voriconazole 200mg Injection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A*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100" spc="-1" strike="noStrike">
                          <a:solidFill>
                            <a:srgbClr val="000000"/>
                          </a:solidFill>
                          <a:latin typeface="Arial"/>
                          <a:ea typeface="Times New Roman"/>
                        </a:rPr>
                        <a:t>2 pesakit</a:t>
                      </a:r>
                      <a:endParaRPr b="0" lang="en-MY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MY" sz="1200" spc="-1" strike="noStrik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</a:rPr>
                        <a:t>0</a:t>
                      </a:r>
                      <a:endParaRPr b="0" lang="en-MY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endParaRPr b="0" lang="en-MY" sz="1200" spc="-1" strike="noStrike">
                        <a:solidFill>
                          <a:schemeClr val="dk1"/>
                        </a:solidFill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Retrospect">
  <a:themeElements>
    <a:clrScheme name="Retrospect">
      <a:dk1>
        <a:srgbClr val="000000"/>
      </a:dk1>
      <a:lt1>
        <a:srgbClr val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5000"/>
                <a:shade val="92000"/>
              </a:schemeClr>
            </a:gs>
            <a:gs pos="45000">
              <a:schemeClr val="phClr">
                <a:tint val="60000"/>
                <a:shade val="99000"/>
              </a:schemeClr>
            </a:gs>
            <a:gs pos="100000">
              <a:schemeClr val="phClr">
                <a:tint val="55000"/>
              </a:schemeClr>
            </a:gs>
          </a:gsLst>
          <a:path path="circle">
            <a:fillToRect l="100000" t="100000" r="100000" b="100000"/>
          </a:path>
          <a:tileRect l="0" t="0" r="0" b="0"/>
        </a:gradFill>
        <a:gradFill>
          <a:gsLst>
            <a:gs pos="0">
              <a:schemeClr val="phClr">
                <a:shade val="85000"/>
              </a:schemeClr>
            </a:gs>
            <a:gs pos="34000">
              <a:schemeClr val="phClr">
                <a:shade val="87000"/>
              </a:schemeClr>
            </a:gs>
            <a:gs pos="70000">
              <a:schemeClr val="phClr">
                <a:tint val="100000"/>
                <a:shade val="90000"/>
              </a:schemeClr>
            </a:gs>
            <a:gs pos="100000">
              <a:schemeClr val="phClr">
                <a:tint val="100000"/>
                <a:shade val="10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2700" cap="flat" cmpd="sng" algn="ctr">
          <a:prstDash val="solid"/>
        </a:ln>
        <a:ln w="15875" cap="flat" cmpd="sng" algn="ctr">
          <a:prstDash val="solid"/>
        </a:ln>
        <a:ln w="254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</a:schemeClr>
        </a:solidFill>
        <a:gradFill>
          <a:gsLst>
            <a:gs pos="0">
              <a:schemeClr val="phClr">
                <a:tint val="96000"/>
                <a:shade val="99000"/>
              </a:schemeClr>
            </a:gs>
            <a:gs pos="65000">
              <a:schemeClr val="phClr">
                <a:tint val="100000"/>
                <a:shade val="80000"/>
              </a:schemeClr>
            </a:gs>
            <a:gs pos="100000">
              <a:schemeClr val="phClr">
                <a:tint val="100000"/>
                <a:shade val="48000"/>
              </a:schemeClr>
            </a:gs>
          </a:gsLst>
          <a:lin ang="162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157</TotalTime>
  <Application>LibreOffice/24.2.1.2$Windows_X86_64 LibreOffice_project/db4def46b0453cc22e2d0305797cf981b68ef5ac</Application>
  <AppVersion>15.0000</AppVersion>
  <Words>851</Words>
  <Paragraphs>319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2024-02-09T02:42:18Z</dcterms:created>
  <dc:creator>FAR Hanisah Binti. Omar</dc:creator>
  <dc:description/>
  <dc:language>en-MY</dc:language>
  <cp:lastModifiedBy/>
  <dcterms:modified xsi:type="dcterms:W3CDTF">2026-03-03T12:02:14Z</dcterms:modified>
  <cp:revision>17</cp:revision>
  <dc:subject/>
  <dc:title>Pre-JKUT 2024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